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1 • PROBLEM DEFINITION &amp; GROUND-TRUTH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1. The Manager Problem Solved &amp; 3 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SpendNest Revenue Intelligence Inbox — Volopay Assessment | Slide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</a:defRPr>
            </a:pPr>
            <a:r>
              <a:t>The Problem: Sales managers receive messy telephony &amp; calendar logs where labels contradict reality, background dials inflate activity counts, and vendor meetings are mistakenly counted as pipeline.</a:t>
            </a:r>
          </a:p>
          <a:p>
            <a:pPr>
              <a:spcAft>
                <a:spcPts val="1000"/>
              </a:spcAft>
              <a:defRPr sz="1400" b="1">
                <a:solidFill>
                  <a:srgbClr val="6366F1"/>
                </a:solidFill>
              </a:defRPr>
            </a:pPr>
            <a:r>
              <a:t>Three Critical Findings Linked to Exact Source Evidence: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Finding 1: Vendor Evaluation Mistagged as Sales Pipeline (M02 - LedgerBridge)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 Evidence (Turn 1): 'I work on strategy and partnerships at SpendNest... We want to understand whether LedgerBridge can give us compliant invoicing coverage in Europe...'</a:t>
            </a:r>
            <a:br/>
            <a:r>
              <a:t>Impact: SpendNest is the buyer! Upstream CRM tagged this as sales pipeline. Our system routes it to Vendor Evaluation / Internal, protecting quota and forecasting accuracy.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Finding 2: Telephony User Identity Mismatch (Call C06)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 Evidence (Verbatim quote): 'Good evening, Mr Nikhil... Ravi here. I'll say at the start that this is a cold call.'</a:t>
            </a:r>
            <a:br/>
            <a:r>
              <a:t>Impact: Telephony metadata lists rep as Meera, but spoken audio is Ravi. Flagged as Rep Coaching / Data Discrepancy to prevent commission and coaching misallocation.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Finding 3: Product Capability Disconnect (Meeting M01 - Harborpath Advisory)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 Evidence (Turn 1 &amp; 2): Partner seeks remote bank account opening. SpendNest clarifies: 'we provide virtual business accounts for operational spend, not licensed retail bank accounts...'</a:t>
            </a:r>
            <a:br/>
            <a:r>
              <a:t>Impact: Channel partner risk. Must deliver compliance positioning before launching partner referrals.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2 • UX DESIGN PHILOSOPHY &amp; SYSTEM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2. Interface Choices &amp; Deliberate Omissions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SpendNest Revenue Intelligence Inbox — Volopay Assessment | Slide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</a:defRPr>
            </a:pPr>
            <a:r>
              <a:t>Manager-Centric UX Design: Prioritize high-signal exceptions, explicit denominators, and evidence drill-down over vanity metric charts.</a:t>
            </a:r>
          </a:p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Key Interface Decisions: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Built-In Replay Simulator Toolbar: 5 interactive buttons to test idempotent repeat imports, manual route overrides, and late-arriving update batches directly in the UI.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Strict Mathematical Denominators: Separates Call Reps (SDRs/AEs dialing) from Meeting Organizers (calendar coordinators). Transcript coverage explicitly measured over all 44 selected records.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Deep Evidence Drawer with Formatted Turns: Allows inspecting verbatim turns, elapsed timecodes, quotes, limitations, and assigned action owners behind every recommendation.</a:t>
            </a:r>
          </a:p>
          <a:p>
            <a:pPr>
              <a:spcBef>
                <a:spcPts val="1000"/>
              </a:spcBef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Deliberate Omissions (Design Discipline):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• Zero Fabricated Summaries: For the 26 records with null transcripts or empty turns, we deliberately declined to generate fake summaries. They are logged transparently as Intake / No Audio Supplied.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• No Standalone Date Filter: All supplied interactions fall on 21 August 2026 (Asia/Kolkata). Providing a date picker adds zero analytical value and was omitted.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3 • ROUTING ARCHITECTURE &amp; DIFFICULT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3. Routing Taxonomy &amp; The Difficult Case (M07)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SpendNest Revenue Intelligence Inbox — Volopay Assessment | Slide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B981"/>
                </a:solidFill>
              </a:defRPr>
            </a:pPr>
            <a:r>
              <a:t>Action-Oriented Routing Taxonomy (6 Distinct Operational Destinations):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1. Deal Next Steps / Pipeline — Active commercial evaluations with stated pricing/budget (M03 Asterloom Systems, C03 Milan API, C08 Raghav referral).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2. Customer Success / Escalations — Urgent customer bug escalations and account migrations (M07 Willowfield Trust, M04 Cedarwave Distribution).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3. Partnerships / Channel Advisory — Referral partners incorporating overseas businesses (C07 Willowbank Advisory, M01 Harborpath Advisory).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4. Vendor &amp; Internal Enablement — Procurement reviews (M02 LedgerBridge) &amp; internal staff training (M10 Billing walkthrough).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5. Low Priority / Voicemail / Gatekeeper — Gatekeeper transfers and voicemails (C01, C02, C04, C06, C10).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6. Intake / Unreviewed — Short dials &amp; empty meetings awaiting audio (B01-B20, M05, M08, M11-M14).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400" b="1">
                <a:solidFill>
                  <a:srgbClr val="EF4444"/>
                </a:solidFill>
              </a:defRPr>
            </a:pPr>
            <a:r>
              <a:t>The Difficult Routing Case: Willowfield Trust (M07)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 Delivery Batch 1, M07 arrived with null turns and was provisionally labeled as an unreviewed routine check-in.</a:t>
            </a:r>
            <a:br/>
            <a:r>
              <a:t>• In Delivery Batch 2 (Rev 2), 27 turns arrived showing Customer A screen-sharing critical software defects: 1) payment description edits reverting upon save, and 2) document upload failing when recreating payments.</a:t>
            </a:r>
            <a:br/>
            <a:r>
              <a:t>• Decision: Shifted immediately from Routine Check-in to Customer Success / Bug Escalation. Under DATA_CONTRACT.md, manager overrides survive batch replays and browser reloads.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4 • AUDIT TRAIL &amp; REPLAY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4. Audit Verification of Key Numbers &amp;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SpendNest Revenue Intelligence Inbox — Volopay Assessment | Slide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6B6D4"/>
                </a:solidFill>
              </a:defRPr>
            </a:pPr>
            <a:r>
              <a:t>Mathematical Verification Against 01_initial.json and 02_update.json: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Unique Source Records: 44 records (Rev 1) -&gt; 44 records (Rev 2) (Keyed strictly by (source_type, source_id). Higher revision updates in place.)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Transcript Coverage: 17 / 44 (38.6%) -&gt; 18 / 44 (40.9%) (M07 arrives in Rev 2 with 27 turns, raising coverage from 17 to 18.)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Calls vs. Meetings Split: 30 Calls &amp; 14 Meetings (Partitioned strictly by source_type; remains constant across batches.)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Source Connection Rate: 9 / 30 calls (30.0%) (Calls with is_connected=true / 30 calls. Exactly 8 had multi-turn prospect dialogue.)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Repeat Import Idempotence Test: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Re-importing Batch 1 with altered record order confirms strict idempotence: 0 duplicates added, 44 duplicates safely rejected, zero metric inflation.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5 • ENGINEERING ETHICS &amp; AI 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5. Trade-offs, Rejected Decision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SpendNest Revenue Intelligence Inbox — Volopay Assessment | Slide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F4444"/>
                </a:solidFill>
              </a:defRPr>
            </a:pPr>
            <a:r>
              <a:t>The Deliberately Rejected Decision: Auto-Estimating Deal Pipeline ARR</a:t>
            </a:r>
          </a:p>
          <a:p>
            <a:pPr>
              <a:spcAft>
                <a:spcPts val="1400"/>
              </a:spcAft>
              <a:defRPr sz="1100">
                <a:solidFill>
                  <a:srgbClr val="94A3B8"/>
                </a:solidFill>
              </a:defRPr>
            </a:pPr>
            <a:r>
              <a:t>• Alternative Considered: Using an LLM to hallucinate contract values based on prospect employee counts (e.g. estimating Asterloom at $45,000 ARR).</a:t>
            </a:r>
            <a:br/>
            <a:r>
              <a:t>• Why Rejected: The prompt strictly prohibits inventing pipeline value or deal outcomes. Speculative revenue figures destroy executive trust during audits.</a:t>
            </a:r>
            <a:br/>
            <a:r>
              <a:t>• Accepted Trade-off: We report qualitative commercial intent and verbatim financial statements (e.g. Asterloom's INR 26-39 lakh monthly vendor spend) without guessing ARR.</a:t>
            </a:r>
          </a:p>
          <a:p>
            <a:pPr>
              <a:spcAft>
                <a:spcPts val="800"/>
              </a:spcAft>
              <a:defRPr sz="1400" b="1">
                <a:solidFill>
                  <a:srgbClr val="6366F1"/>
                </a:solidFill>
              </a:defRPr>
            </a:pPr>
            <a:r>
              <a:t>AI Implementation &amp; Architecture Disclosure: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Pre-generated vs. Dynamic: Conversation analyses and evidence citations were prepared beforehand. Batch ingestion, revision deduplication, manual override persistence, and ZIP manifest generation run completely dynamically client-side in the browser.</a:t>
            </a:r>
            <a:br/>
            <a:r>
              <a:t>• Approximate Time Spent: ~7 hours total (modeling, UI design, contract compliance, documentation).</a:t>
            </a:r>
            <a:br/>
            <a:r>
              <a:t>• Known Limitations &amp; Future Scope: Cross-call speaker identity is not unified upstream. Future release will integrate live webhooks for automated recording synchronization.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