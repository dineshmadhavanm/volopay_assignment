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6B6D4"/>
                </a:solidFill>
              </a:defRPr>
            </a:pPr>
            <a:r>
              <a:t>VOLOPAY EVALUATION  •  SLIDE 1 • PROBLEM CONTEXT &amp; GROUND-TRUTH EVIDENCE</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F8FAFC"/>
                </a:solidFill>
              </a:defRPr>
            </a:pPr>
            <a:r>
              <a:t>1. The Manager Problem Solved &amp; 3 Key Source Findings</a:t>
            </a:r>
          </a:p>
        </p:txBody>
      </p:sp>
      <p:sp>
        <p:nvSpPr>
          <p:cNvPr id="4" name="TextBox 3"/>
          <p:cNvSpPr txBox="1"/>
          <p:nvPr/>
        </p:nvSpPr>
        <p:spPr>
          <a:xfrm>
            <a:off x="731520" y="6309360"/>
            <a:ext cx="10698480" cy="365760"/>
          </a:xfrm>
          <a:prstGeom prst="rect">
            <a:avLst/>
          </a:prstGeom>
          <a:noFill/>
        </p:spPr>
        <p:txBody>
          <a:bodyPr wrap="none">
            <a:spAutoFit/>
          </a:bodyPr>
          <a:lstStyle/>
          <a:p>
            <a:pPr>
              <a:defRPr sz="950">
                <a:solidFill>
                  <a:srgbClr val="94A3B8"/>
                </a:solidFill>
              </a:defRPr>
            </a:pPr>
            <a:r>
              <a:t>SpendNest Revenue Intelligence Inbox  •  Candidate: Dinesh Madhavan M  •  Live: https://volopay-assignment-inqe.onrender.com  •  Slide 1 of 5</a:t>
            </a:r>
          </a:p>
        </p:txBody>
      </p:sp>
      <p:sp>
        <p:nvSpPr>
          <p:cNvPr id="5" name="Rounded Rectangle 4"/>
          <p:cNvSpPr/>
          <p:nvPr/>
        </p:nvSpPr>
        <p:spPr>
          <a:xfrm>
            <a:off x="731520" y="1371600"/>
            <a:ext cx="10728655" cy="914400"/>
          </a:xfrm>
          <a:prstGeom prst="roundRect">
            <a:avLst/>
          </a:prstGeom>
          <a:solidFill>
            <a:srgbClr val="131A2B"/>
          </a:solidFill>
          <a:ln w="15240">
            <a:solidFill>
              <a:srgbClr val="25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362895" cy="822960"/>
          </a:xfrm>
          <a:prstGeom prst="rect">
            <a:avLst/>
          </a:prstGeom>
          <a:noFill/>
        </p:spPr>
        <p:txBody>
          <a:bodyPr wrap="square">
            <a:spAutoFit/>
          </a:bodyPr>
          <a:lstStyle/>
          <a:p>
            <a:pPr>
              <a:defRPr b="1" sz="1200">
                <a:solidFill>
                  <a:srgbClr val="6366F1"/>
                </a:solidFill>
              </a:defRPr>
            </a:pPr>
            <a:r>
              <a:t>The Manager Problem:</a:t>
            </a:r>
          </a:p>
          <a:p>
            <a:pPr>
              <a:defRPr sz="1100">
                <a:solidFill>
                  <a:srgbClr val="F8FAFC"/>
                </a:solidFill>
              </a:defRPr>
            </a:pPr>
            <a:r>
              <a:t>A sales manager receives fragmented telephony and calendar logs from multiple sources where labels contradict reality, background dials inflate activity counts, and vendor procurement discussions are misclassified as inbound sales leads.</a:t>
            </a:r>
          </a:p>
        </p:txBody>
      </p:sp>
      <p:sp>
        <p:nvSpPr>
          <p:cNvPr id="7" name="Rounded Rectangle 6"/>
          <p:cNvSpPr/>
          <p:nvPr/>
        </p:nvSpPr>
        <p:spPr>
          <a:xfrm>
            <a:off x="731520" y="2423160"/>
            <a:ext cx="3429000" cy="3703320"/>
          </a:xfrm>
          <a:prstGeom prst="roundRect">
            <a:avLst/>
          </a:prstGeom>
          <a:solidFill>
            <a:srgbClr val="131A2B"/>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560320"/>
            <a:ext cx="3154680" cy="3429000"/>
          </a:xfrm>
          <a:prstGeom prst="rect">
            <a:avLst/>
          </a:prstGeom>
          <a:noFill/>
        </p:spPr>
        <p:txBody>
          <a:bodyPr wrap="square">
            <a:spAutoFit/>
          </a:bodyPr>
          <a:lstStyle/>
          <a:p>
            <a:pPr>
              <a:defRPr sz="1000" b="1">
                <a:solidFill>
                  <a:srgbClr val="6366F1"/>
                </a:solidFill>
              </a:defRPr>
            </a:pPr>
            <a:r>
              <a:t>MEETING M02 — LEDGERBRIDGE</a:t>
            </a:r>
          </a:p>
          <a:p>
            <a:pPr>
              <a:spcAft>
                <a:spcPts val="800"/>
              </a:spcAft>
              <a:defRPr sz="1300" b="1">
                <a:solidFill>
                  <a:srgbClr val="F8FAFC"/>
                </a:solidFill>
              </a:defRPr>
            </a:pPr>
            <a:r>
              <a:t>Finding 1: Vendor Misclassified as Sales Pipeline</a:t>
            </a:r>
          </a:p>
          <a:p>
            <a:pPr>
              <a:defRPr sz="950" b="1">
                <a:solidFill>
                  <a:srgbClr val="94A3B8"/>
                </a:solidFill>
              </a:defRPr>
            </a:pPr>
            <a:r>
              <a:t>SOURCE PASSAGE EVIDENCE:</a:t>
            </a:r>
          </a:p>
          <a:p>
            <a:pPr>
              <a:spcAft>
                <a:spcPts val="800"/>
              </a:spcAft>
              <a:defRPr sz="1000" i="1">
                <a:solidFill>
                  <a:srgbClr val="F8FAFC"/>
                </a:solidFill>
              </a:defRPr>
            </a:pPr>
            <a:r>
              <a:t>"Turn 1: 'I work on strategy and partnerships at SpendNest... We want to understand whether LedgerBridge can give us compliant invoicing coverage in Europe...'"</a:t>
            </a:r>
          </a:p>
          <a:p>
            <a:pPr>
              <a:defRPr sz="950" b="1">
                <a:solidFill>
                  <a:srgbClr val="6366F1"/>
                </a:solidFill>
              </a:defRPr>
            </a:pPr>
            <a:r>
              <a:t>PRODUCT DECISION / IMPACT:</a:t>
            </a:r>
          </a:p>
          <a:p>
            <a:pPr>
              <a:defRPr sz="1000">
                <a:solidFill>
                  <a:srgbClr val="F8FAFC"/>
                </a:solidFill>
              </a:defRPr>
            </a:pPr>
            <a:r>
              <a:t>SpendNest is the buyer! Upstream CRM tagged this as sales pipeline. Our system routes it to Vendor Evaluation / Internal, protecting quota and forecasting integrity.</a:t>
            </a:r>
          </a:p>
        </p:txBody>
      </p:sp>
      <p:sp>
        <p:nvSpPr>
          <p:cNvPr id="9" name="Rounded Rectangle 8"/>
          <p:cNvSpPr/>
          <p:nvPr/>
        </p:nvSpPr>
        <p:spPr>
          <a:xfrm>
            <a:off x="4379976" y="2423160"/>
            <a:ext cx="3429000" cy="3703320"/>
          </a:xfrm>
          <a:prstGeom prst="roundRect">
            <a:avLst/>
          </a:prstGeom>
          <a:solidFill>
            <a:srgbClr val="131A2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17136" y="2560320"/>
            <a:ext cx="3154680" cy="3429000"/>
          </a:xfrm>
          <a:prstGeom prst="rect">
            <a:avLst/>
          </a:prstGeom>
          <a:noFill/>
        </p:spPr>
        <p:txBody>
          <a:bodyPr wrap="square">
            <a:spAutoFit/>
          </a:bodyPr>
          <a:lstStyle/>
          <a:p>
            <a:pPr>
              <a:defRPr sz="1000" b="1">
                <a:solidFill>
                  <a:srgbClr val="F59E0B"/>
                </a:solidFill>
              </a:defRPr>
            </a:pPr>
            <a:r>
              <a:t>CALL C06 — MEERA VS. RAVI</a:t>
            </a:r>
          </a:p>
          <a:p>
            <a:pPr>
              <a:spcAft>
                <a:spcPts val="800"/>
              </a:spcAft>
              <a:defRPr sz="1300" b="1">
                <a:solidFill>
                  <a:srgbClr val="F8FAFC"/>
                </a:solidFill>
              </a:defRPr>
            </a:pPr>
            <a:r>
              <a:t>Finding 2: Telephony User Identity Mismatch</a:t>
            </a:r>
          </a:p>
          <a:p>
            <a:pPr>
              <a:defRPr sz="950" b="1">
                <a:solidFill>
                  <a:srgbClr val="94A3B8"/>
                </a:solidFill>
              </a:defRPr>
            </a:pPr>
            <a:r>
              <a:t>SOURCE PASSAGE EVIDENCE:</a:t>
            </a:r>
          </a:p>
          <a:p>
            <a:pPr>
              <a:spcAft>
                <a:spcPts val="800"/>
              </a:spcAft>
              <a:defRPr sz="1000" i="1">
                <a:solidFill>
                  <a:srgbClr val="F8FAFC"/>
                </a:solidFill>
              </a:defRPr>
            </a:pPr>
            <a:r>
              <a:t>"Verbatim Spoken Audio: 'Good evening, Mr Nikhil... Ravi here. I'll say at the start that this is a cold call.'"</a:t>
            </a:r>
          </a:p>
          <a:p>
            <a:pPr>
              <a:defRPr sz="950" b="1">
                <a:solidFill>
                  <a:srgbClr val="F59E0B"/>
                </a:solidFill>
              </a:defRPr>
            </a:pPr>
            <a:r>
              <a:t>PRODUCT DECISION / IMPACT:</a:t>
            </a:r>
          </a:p>
          <a:p>
            <a:pPr>
              <a:defRPr sz="1000">
                <a:solidFill>
                  <a:srgbClr val="F8FAFC"/>
                </a:solidFill>
              </a:defRPr>
            </a:pPr>
            <a:r>
              <a:t>Telephony metadata attributes the dial to Meera, but spoken audio is Ravi. Flagged as Rep Coaching / Discrepancy Alert to prevent coaching and commission misallocation.</a:t>
            </a:r>
          </a:p>
        </p:txBody>
      </p:sp>
      <p:sp>
        <p:nvSpPr>
          <p:cNvPr id="11" name="Rounded Rectangle 10"/>
          <p:cNvSpPr/>
          <p:nvPr/>
        </p:nvSpPr>
        <p:spPr>
          <a:xfrm>
            <a:off x="8028432" y="2423160"/>
            <a:ext cx="3429000" cy="3703320"/>
          </a:xfrm>
          <a:prstGeom prst="roundRect">
            <a:avLst/>
          </a:prstGeom>
          <a:solidFill>
            <a:srgbClr val="131A2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65592" y="2560320"/>
            <a:ext cx="3154680" cy="3429000"/>
          </a:xfrm>
          <a:prstGeom prst="rect">
            <a:avLst/>
          </a:prstGeom>
          <a:noFill/>
        </p:spPr>
        <p:txBody>
          <a:bodyPr wrap="square">
            <a:spAutoFit/>
          </a:bodyPr>
          <a:lstStyle/>
          <a:p>
            <a:pPr>
              <a:defRPr sz="1000" b="1">
                <a:solidFill>
                  <a:srgbClr val="06B6D4"/>
                </a:solidFill>
              </a:defRPr>
            </a:pPr>
            <a:r>
              <a:t>MEETING M01 — HARBORPATH ADVISORY</a:t>
            </a:r>
          </a:p>
          <a:p>
            <a:pPr>
              <a:spcAft>
                <a:spcPts val="800"/>
              </a:spcAft>
              <a:defRPr sz="1300" b="1">
                <a:solidFill>
                  <a:srgbClr val="F8FAFC"/>
                </a:solidFill>
              </a:defRPr>
            </a:pPr>
            <a:r>
              <a:t>Finding 3: Channel Capability Disconnect</a:t>
            </a:r>
          </a:p>
          <a:p>
            <a:pPr>
              <a:defRPr sz="950" b="1">
                <a:solidFill>
                  <a:srgbClr val="94A3B8"/>
                </a:solidFill>
              </a:defRPr>
            </a:pPr>
            <a:r>
              <a:t>SOURCE PASSAGE EVIDENCE:</a:t>
            </a:r>
          </a:p>
          <a:p>
            <a:pPr>
              <a:spcAft>
                <a:spcPts val="800"/>
              </a:spcAft>
              <a:defRPr sz="1000" i="1">
                <a:solidFill>
                  <a:srgbClr val="F8FAFC"/>
                </a:solidFill>
              </a:defRPr>
            </a:pPr>
            <a:r>
              <a:t>"Turn 1 &amp; 2: Partner seeks remote bank account opening. SpendNest clarifies: 'we provide virtual business accounts for spend, not licensed retail bank accounts...'"</a:t>
            </a:r>
          </a:p>
          <a:p>
            <a:pPr>
              <a:defRPr sz="950" b="1">
                <a:solidFill>
                  <a:srgbClr val="06B6D4"/>
                </a:solidFill>
              </a:defRPr>
            </a:pPr>
            <a:r>
              <a:t>PRODUCT DECISION / IMPACT:</a:t>
            </a:r>
          </a:p>
          <a:p>
            <a:pPr>
              <a:defRPr sz="1000">
                <a:solidFill>
                  <a:srgbClr val="F8FAFC"/>
                </a:solidFill>
              </a:defRPr>
            </a:pPr>
            <a:r>
              <a:t>Channel partner expectation risk. Routed to Partnerships with requirement to supply compliance positioning collateral before onboarding overseas clients.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6B6D4"/>
                </a:solidFill>
              </a:defRPr>
            </a:pPr>
            <a:r>
              <a:t>VOLOPAY EVALUATION  •  SLIDE 2 • UX DESIGN PHILOSOPHY &amp; BOUNDARIES</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F8FAFC"/>
                </a:solidFill>
              </a:defRPr>
            </a:pPr>
            <a:r>
              <a:t>2. Interface Choices &amp; Deliberate Omissions</a:t>
            </a:r>
          </a:p>
        </p:txBody>
      </p:sp>
      <p:sp>
        <p:nvSpPr>
          <p:cNvPr id="4" name="TextBox 3"/>
          <p:cNvSpPr txBox="1"/>
          <p:nvPr/>
        </p:nvSpPr>
        <p:spPr>
          <a:xfrm>
            <a:off x="731520" y="6309360"/>
            <a:ext cx="10698480" cy="365760"/>
          </a:xfrm>
          <a:prstGeom prst="rect">
            <a:avLst/>
          </a:prstGeom>
          <a:noFill/>
        </p:spPr>
        <p:txBody>
          <a:bodyPr wrap="none">
            <a:spAutoFit/>
          </a:bodyPr>
          <a:lstStyle/>
          <a:p>
            <a:pPr>
              <a:defRPr sz="950">
                <a:solidFill>
                  <a:srgbClr val="94A3B8"/>
                </a:solidFill>
              </a:defRPr>
            </a:pPr>
            <a:r>
              <a:t>SpendNest Revenue Intelligence Inbox  •  Candidate: Dinesh Madhavan M  •  Live: https://volopay-assignment-inqe.onrender.com  •  Slide 2 of 5</a:t>
            </a:r>
          </a:p>
        </p:txBody>
      </p:sp>
      <p:sp>
        <p:nvSpPr>
          <p:cNvPr id="5" name="Rounded Rectangle 4"/>
          <p:cNvSpPr/>
          <p:nvPr/>
        </p:nvSpPr>
        <p:spPr>
          <a:xfrm>
            <a:off x="731520" y="1371600"/>
            <a:ext cx="5248656" cy="4754880"/>
          </a:xfrm>
          <a:prstGeom prst="roundRect">
            <a:avLst/>
          </a:prstGeom>
          <a:solidFill>
            <a:srgbClr val="131A2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82896" cy="4389120"/>
          </a:xfrm>
          <a:prstGeom prst="rect">
            <a:avLst/>
          </a:prstGeom>
          <a:noFill/>
        </p:spPr>
        <p:txBody>
          <a:bodyPr wrap="square">
            <a:spAutoFit/>
          </a:bodyPr>
          <a:lstStyle/>
          <a:p>
            <a:pPr>
              <a:spcAft>
                <a:spcPts val="1200"/>
              </a:spcAft>
              <a:defRPr sz="1200" b="1">
                <a:solidFill>
                  <a:srgbClr val="06B6D4"/>
                </a:solidFill>
              </a:defRPr>
            </a:pPr>
            <a:r>
              <a:t>CORE INTERFACE CHOICES</a:t>
            </a:r>
          </a:p>
          <a:p>
            <a:pPr>
              <a:defRPr sz="1200" b="1">
                <a:solidFill>
                  <a:srgbClr val="F8FAFC"/>
                </a:solidFill>
              </a:defRPr>
            </a:pPr>
            <a:r>
              <a:t>• Executive Left-Sidebar Navigation</a:t>
            </a:r>
          </a:p>
          <a:p>
            <a:pPr>
              <a:spcAft>
                <a:spcPts val="800"/>
              </a:spcAft>
              <a:defRPr sz="1050">
                <a:solidFill>
                  <a:srgbClr val="94A3B8"/>
                </a:solidFill>
              </a:defRPr>
            </a:pPr>
            <a:r>
              <a:t>Consolidates Revenue Inbox, Contract Verification, Manager Daily Brief, and Export Center into an accessible SaaS layout.</a:t>
            </a:r>
          </a:p>
          <a:p>
            <a:pPr>
              <a:defRPr sz="1200" b="1">
                <a:solidFill>
                  <a:srgbClr val="F8FAFC"/>
                </a:solidFill>
              </a:defRPr>
            </a:pPr>
            <a:r>
              <a:t>• Built-In 5-Step Contract Replay Simulator</a:t>
            </a:r>
          </a:p>
          <a:p>
            <a:pPr>
              <a:spcAft>
                <a:spcPts val="800"/>
              </a:spcAft>
              <a:defRPr sz="1050">
                <a:solidFill>
                  <a:srgbClr val="94A3B8"/>
                </a:solidFill>
              </a:defRPr>
            </a:pPr>
            <a:r>
              <a:t>Interactive toolbar to test idempotent repeat batch imports, manual route overrides, and late-arriving update batches directly in the UI per DATA_CONTRACT.md.</a:t>
            </a:r>
          </a:p>
          <a:p>
            <a:pPr>
              <a:defRPr sz="1200" b="1">
                <a:solidFill>
                  <a:srgbClr val="F8FAFC"/>
                </a:solidFill>
              </a:defRPr>
            </a:pPr>
            <a:r>
              <a:t>• Strict Mathematical Denominators</a:t>
            </a:r>
          </a:p>
          <a:p>
            <a:pPr>
              <a:spcAft>
                <a:spcPts val="800"/>
              </a:spcAft>
              <a:defRPr sz="1050">
                <a:solidFill>
                  <a:srgbClr val="94A3B8"/>
                </a:solidFill>
              </a:defRPr>
            </a:pPr>
            <a:r>
              <a:t>Separates Call Reps (SDRs/AEs dialing) from Meeting Organizers (calendar coordinators). Transcript coverage explicitly calculated against all 44 selected records.</a:t>
            </a:r>
          </a:p>
          <a:p>
            <a:pPr>
              <a:defRPr sz="1200" b="1">
                <a:solidFill>
                  <a:srgbClr val="F8FAFC"/>
                </a:solidFill>
              </a:defRPr>
            </a:pPr>
            <a:r>
              <a:t>• Slide-Out Deep Evidence Inspection Drawer</a:t>
            </a:r>
          </a:p>
          <a:p>
            <a:pPr>
              <a:spcAft>
                <a:spcPts val="800"/>
              </a:spcAft>
              <a:defRPr sz="1050">
                <a:solidFill>
                  <a:srgbClr val="94A3B8"/>
                </a:solidFill>
              </a:defRPr>
            </a:pPr>
            <a:r>
              <a:t>Clicking any interaction slides out formatted dialogue turns with exact timecodes, verbatim evidence quotes, limitations, and assigned action owners.</a:t>
            </a:r>
          </a:p>
        </p:txBody>
      </p:sp>
      <p:sp>
        <p:nvSpPr>
          <p:cNvPr id="7" name="Rounded Rectangle 6"/>
          <p:cNvSpPr/>
          <p:nvPr/>
        </p:nvSpPr>
        <p:spPr>
          <a:xfrm>
            <a:off x="6199632" y="1371600"/>
            <a:ext cx="5248656" cy="4754880"/>
          </a:xfrm>
          <a:prstGeom prst="roundRect">
            <a:avLst/>
          </a:prstGeom>
          <a:solidFill>
            <a:srgbClr val="131A2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82896" cy="4389120"/>
          </a:xfrm>
          <a:prstGeom prst="rect">
            <a:avLst/>
          </a:prstGeom>
          <a:noFill/>
        </p:spPr>
        <p:txBody>
          <a:bodyPr wrap="square">
            <a:spAutoFit/>
          </a:bodyPr>
          <a:lstStyle/>
          <a:p>
            <a:pPr>
              <a:spcAft>
                <a:spcPts val="1200"/>
              </a:spcAft>
              <a:defRPr sz="1200" b="1">
                <a:solidFill>
                  <a:srgbClr val="F59E0B"/>
                </a:solidFill>
              </a:defRPr>
            </a:pPr>
            <a:r>
              <a:t>DELIBERATE OMISSIONS (ENGINEERING DISCIPLINE)</a:t>
            </a:r>
          </a:p>
          <a:p>
            <a:pPr>
              <a:defRPr sz="1200" b="1">
                <a:solidFill>
                  <a:srgbClr val="F59E0B"/>
                </a:solidFill>
              </a:defRPr>
            </a:pPr>
            <a:r>
              <a:t>✕ Zero Fabricated Summaries for Silent Records</a:t>
            </a:r>
          </a:p>
          <a:p>
            <a:pPr>
              <a:spcAft>
                <a:spcPts val="800"/>
              </a:spcAft>
              <a:defRPr sz="1050">
                <a:solidFill>
                  <a:srgbClr val="94A3B8"/>
                </a:solidFill>
              </a:defRPr>
            </a:pPr>
            <a:r>
              <a:t>For the 26 records with null transcripts or empty turns, we deliberately refused to hallucinate synthetic summaries. They are logged honestly as 'Intake / No Audio Supplied'.</a:t>
            </a:r>
          </a:p>
          <a:p>
            <a:pPr>
              <a:defRPr sz="1200" b="1">
                <a:solidFill>
                  <a:srgbClr val="F59E0B"/>
                </a:solidFill>
              </a:defRPr>
            </a:pPr>
            <a:r>
              <a:t>✕ No Standalone Date Filter</a:t>
            </a:r>
          </a:p>
          <a:p>
            <a:pPr>
              <a:spcAft>
                <a:spcPts val="800"/>
              </a:spcAft>
              <a:defRPr sz="1050">
                <a:solidFill>
                  <a:srgbClr val="94A3B8"/>
                </a:solidFill>
              </a:defRPr>
            </a:pPr>
            <a:r>
              <a:t>All supplied records fall on Friday, 21 August 2026 (Asia/Kolkata). Providing a date picker adds zero analytical value and was omitted per brief instructions.</a:t>
            </a:r>
          </a:p>
          <a:p>
            <a:pPr>
              <a:defRPr sz="1200" b="1">
                <a:solidFill>
                  <a:srgbClr val="F59E0B"/>
                </a:solidFill>
              </a:defRPr>
            </a:pPr>
            <a:r>
              <a:t>✕ No Speculative Pipeline / ARR Guessing</a:t>
            </a:r>
          </a:p>
          <a:p>
            <a:pPr>
              <a:spcAft>
                <a:spcPts val="800"/>
              </a:spcAft>
              <a:defRPr sz="1050">
                <a:solidFill>
                  <a:srgbClr val="94A3B8"/>
                </a:solidFill>
              </a:defRPr>
            </a:pPr>
            <a:r>
              <a:t>The brief forbids inventing pipeline value that data does not establish. We show verified commercial volume (e.g. Asterloom INR 26-39L/mo) without guessing fictitious ARR.</a:t>
            </a:r>
          </a:p>
          <a:p>
            <a:pPr>
              <a:defRPr sz="1200" b="1">
                <a:solidFill>
                  <a:srgbClr val="F59E0B"/>
                </a:solidFill>
              </a:defRPr>
            </a:pPr>
            <a:r>
              <a:t>✕ No Authentication / Login Barriers</a:t>
            </a:r>
          </a:p>
          <a:p>
            <a:pPr>
              <a:spcAft>
                <a:spcPts val="800"/>
              </a:spcAft>
              <a:defRPr sz="1050">
                <a:solidFill>
                  <a:srgbClr val="94A3B8"/>
                </a:solidFill>
              </a:defRPr>
            </a:pPr>
            <a:r>
              <a:t>In accordance with ASSIGNMENT.md line 86, we omitted passwords and external API keys so reviewers can evaluate the workspace instantly with zero configuration.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6B6D4"/>
                </a:solidFill>
              </a:defRPr>
            </a:pPr>
            <a:r>
              <a:t>VOLOPAY EVALUATION  •  SLIDE 3 • ROUTING TAXONOMY &amp; DIFFICULT CASE</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F8FAFC"/>
                </a:solidFill>
              </a:defRPr>
            </a:pPr>
            <a:r>
              <a:t>3. Routing Taxonomy &amp; The Difficult Case: Willowfield Trust (M07)</a:t>
            </a:r>
          </a:p>
        </p:txBody>
      </p:sp>
      <p:sp>
        <p:nvSpPr>
          <p:cNvPr id="4" name="TextBox 3"/>
          <p:cNvSpPr txBox="1"/>
          <p:nvPr/>
        </p:nvSpPr>
        <p:spPr>
          <a:xfrm>
            <a:off x="731520" y="6309360"/>
            <a:ext cx="10698480" cy="365760"/>
          </a:xfrm>
          <a:prstGeom prst="rect">
            <a:avLst/>
          </a:prstGeom>
          <a:noFill/>
        </p:spPr>
        <p:txBody>
          <a:bodyPr wrap="none">
            <a:spAutoFit/>
          </a:bodyPr>
          <a:lstStyle/>
          <a:p>
            <a:pPr>
              <a:defRPr sz="950">
                <a:solidFill>
                  <a:srgbClr val="94A3B8"/>
                </a:solidFill>
              </a:defRPr>
            </a:pPr>
            <a:r>
              <a:t>SpendNest Revenue Intelligence Inbox  •  Candidate: Dinesh Madhavan M  •  Live: https://volopay-assignment-inqe.onrender.com  •  Slide 3 of 5</a:t>
            </a:r>
          </a:p>
        </p:txBody>
      </p:sp>
      <p:sp>
        <p:nvSpPr>
          <p:cNvPr id="5" name="Rounded Rectangle 4"/>
          <p:cNvSpPr/>
          <p:nvPr/>
        </p:nvSpPr>
        <p:spPr>
          <a:xfrm>
            <a:off x="731520" y="1371600"/>
            <a:ext cx="5248656" cy="4754880"/>
          </a:xfrm>
          <a:prstGeom prst="roundRect">
            <a:avLst/>
          </a:prstGeom>
          <a:solidFill>
            <a:srgbClr val="131A2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82896" cy="4389120"/>
          </a:xfrm>
          <a:prstGeom prst="rect">
            <a:avLst/>
          </a:prstGeom>
          <a:noFill/>
        </p:spPr>
        <p:txBody>
          <a:bodyPr wrap="square">
            <a:spAutoFit/>
          </a:bodyPr>
          <a:lstStyle/>
          <a:p>
            <a:pPr>
              <a:spcAft>
                <a:spcPts val="1000"/>
              </a:spcAft>
              <a:defRPr sz="1200" b="1">
                <a:solidFill>
                  <a:srgbClr val="10B981"/>
                </a:solidFill>
              </a:defRPr>
            </a:pPr>
            <a:r>
              <a:t>OPERATIONAL ROUTING TAXONOMY</a:t>
            </a:r>
          </a:p>
          <a:p>
            <a:pPr>
              <a:defRPr sz="1150" b="1">
                <a:solidFill>
                  <a:srgbClr val="F8FAFC"/>
                </a:solidFill>
              </a:defRPr>
            </a:pPr>
            <a:r>
              <a:t>1. Deal Next Steps / Pipeline</a:t>
            </a:r>
          </a:p>
          <a:p>
            <a:pPr>
              <a:spcAft>
                <a:spcPts val="500"/>
              </a:spcAft>
              <a:defRPr sz="1000">
                <a:solidFill>
                  <a:srgbClr val="94A3B8"/>
                </a:solidFill>
              </a:defRPr>
            </a:pPr>
            <a:r>
              <a:t>Active commercial evaluations with stated pricing/budget (M03 Asterloom, C03 Milan API, C08 Raghav referral).</a:t>
            </a:r>
          </a:p>
          <a:p>
            <a:pPr>
              <a:defRPr sz="1150" b="1">
                <a:solidFill>
                  <a:srgbClr val="F8FAFC"/>
                </a:solidFill>
              </a:defRPr>
            </a:pPr>
            <a:r>
              <a:t>2. Customer Success / Bug Escalation</a:t>
            </a:r>
          </a:p>
          <a:p>
            <a:pPr>
              <a:spcAft>
                <a:spcPts val="500"/>
              </a:spcAft>
              <a:defRPr sz="1000">
                <a:solidFill>
                  <a:srgbClr val="94A3B8"/>
                </a:solidFill>
              </a:defRPr>
            </a:pPr>
            <a:r>
              <a:t>Urgent software defects &amp; account migrations (M07 Willowfield Trust, M04 Cedarwave).</a:t>
            </a:r>
          </a:p>
          <a:p>
            <a:pPr>
              <a:defRPr sz="1150" b="1">
                <a:solidFill>
                  <a:srgbClr val="F8FAFC"/>
                </a:solidFill>
              </a:defRPr>
            </a:pPr>
            <a:r>
              <a:t>3. Partnerships / Channel Advisory</a:t>
            </a:r>
          </a:p>
          <a:p>
            <a:pPr>
              <a:spcAft>
                <a:spcPts val="500"/>
              </a:spcAft>
              <a:defRPr sz="1000">
                <a:solidFill>
                  <a:srgbClr val="94A3B8"/>
                </a:solidFill>
              </a:defRPr>
            </a:pPr>
            <a:r>
              <a:t>Referral partners incorporating overseas businesses (C07 Willowbank Advisory, M01 Harborpath).</a:t>
            </a:r>
          </a:p>
          <a:p>
            <a:pPr>
              <a:defRPr sz="1150" b="1">
                <a:solidFill>
                  <a:srgbClr val="F8FAFC"/>
                </a:solidFill>
              </a:defRPr>
            </a:pPr>
            <a:r>
              <a:t>4. Vendor &amp; Internal Enablement</a:t>
            </a:r>
          </a:p>
          <a:p>
            <a:pPr>
              <a:spcAft>
                <a:spcPts val="500"/>
              </a:spcAft>
              <a:defRPr sz="1000">
                <a:solidFill>
                  <a:srgbClr val="94A3B8"/>
                </a:solidFill>
              </a:defRPr>
            </a:pPr>
            <a:r>
              <a:t>Procurement reviews (M02 LedgerBridge) &amp; internal staff training (M10 Billing walkthrough).</a:t>
            </a:r>
          </a:p>
          <a:p>
            <a:pPr>
              <a:defRPr sz="1150" b="1">
                <a:solidFill>
                  <a:srgbClr val="F8FAFC"/>
                </a:solidFill>
              </a:defRPr>
            </a:pPr>
            <a:r>
              <a:t>5. Low Priority / Voicemail</a:t>
            </a:r>
          </a:p>
          <a:p>
            <a:pPr>
              <a:spcAft>
                <a:spcPts val="500"/>
              </a:spcAft>
              <a:defRPr sz="1000">
                <a:solidFill>
                  <a:srgbClr val="94A3B8"/>
                </a:solidFill>
              </a:defRPr>
            </a:pPr>
            <a:r>
              <a:t>Gatekeeper transfers, voicemails, and short unreachables (C01, C02, C04, C06, C10).</a:t>
            </a:r>
          </a:p>
          <a:p>
            <a:pPr>
              <a:defRPr sz="1150" b="1">
                <a:solidFill>
                  <a:srgbClr val="F8FAFC"/>
                </a:solidFill>
              </a:defRPr>
            </a:pPr>
            <a:r>
              <a:t>6. Intake / No Audio Supplied</a:t>
            </a:r>
          </a:p>
          <a:p>
            <a:pPr>
              <a:spcAft>
                <a:spcPts val="500"/>
              </a:spcAft>
              <a:defRPr sz="1000">
                <a:solidFill>
                  <a:srgbClr val="94A3B8"/>
                </a:solidFill>
              </a:defRPr>
            </a:pPr>
            <a:r>
              <a:t>Short background dials &amp; empty meetings awaiting audio (B01-B20, M05, M08, M11-M14).</a:t>
            </a:r>
          </a:p>
        </p:txBody>
      </p:sp>
      <p:sp>
        <p:nvSpPr>
          <p:cNvPr id="7" name="Rounded Rectangle 6"/>
          <p:cNvSpPr/>
          <p:nvPr/>
        </p:nvSpPr>
        <p:spPr>
          <a:xfrm>
            <a:off x="6199632" y="1371600"/>
            <a:ext cx="5248656" cy="4754880"/>
          </a:xfrm>
          <a:prstGeom prst="roundRect">
            <a:avLst/>
          </a:prstGeom>
          <a:solidFill>
            <a:srgbClr val="131A2B"/>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82896" cy="4389120"/>
          </a:xfrm>
          <a:prstGeom prst="rect">
            <a:avLst/>
          </a:prstGeom>
          <a:noFill/>
        </p:spPr>
        <p:txBody>
          <a:bodyPr wrap="square">
            <a:spAutoFit/>
          </a:bodyPr>
          <a:lstStyle/>
          <a:p>
            <a:pPr>
              <a:spcAft>
                <a:spcPts val="1000"/>
              </a:spcAft>
              <a:defRPr sz="1200" b="1">
                <a:solidFill>
                  <a:srgbClr val="EF4444"/>
                </a:solidFill>
              </a:defRPr>
            </a:pPr>
            <a:r>
              <a:t>THE DIFFICULT CASE: WILLOWFIELD TRUST (M07)</a:t>
            </a:r>
          </a:p>
          <a:p>
            <a:pPr>
              <a:defRPr sz="1150" b="1">
                <a:solidFill>
                  <a:srgbClr val="F8FAFC"/>
                </a:solidFill>
              </a:defRPr>
            </a:pPr>
            <a:r>
              <a:t>• Delivery Batch 1 State (Revision 1)</a:t>
            </a:r>
          </a:p>
          <a:p>
            <a:pPr>
              <a:spcAft>
                <a:spcPts val="700"/>
              </a:spcAft>
              <a:defRPr sz="1000">
                <a:solidFill>
                  <a:srgbClr val="94A3B8"/>
                </a:solidFill>
              </a:defRPr>
            </a:pPr>
            <a:r>
              <a:t>Arrived with null speech turns and unavailable_reason: 'Transcript withheld in initial delivery batch'. Provisionally assigned to Intake / Routine check-in.</a:t>
            </a:r>
          </a:p>
          <a:p>
            <a:pPr>
              <a:defRPr sz="1150" b="1">
                <a:solidFill>
                  <a:srgbClr val="F8FAFC"/>
                </a:solidFill>
              </a:defRPr>
            </a:pPr>
            <a:r>
              <a:t>• Delivery Batch 2 Update (Revision 2)</a:t>
            </a:r>
          </a:p>
          <a:p>
            <a:pPr>
              <a:spcAft>
                <a:spcPts val="700"/>
              </a:spcAft>
              <a:defRPr sz="1000">
                <a:solidFill>
                  <a:srgbClr val="94A3B8"/>
                </a:solidFill>
              </a:defRPr>
            </a:pPr>
            <a:r>
              <a:t>Arrived with 27 speech turns. During screen-share, Customer A demonstrated critical software bugs:</a:t>
            </a:r>
            <a:br/>
            <a:r>
              <a:t>• Turn 2 &amp; 3: Editing event payment descriptions reverts upon clicking 'Save changes'.</a:t>
            </a:r>
            <a:br/>
            <a:r>
              <a:t>• Turn 8: Document upload fails when recreating a payment.</a:t>
            </a:r>
          </a:p>
          <a:p>
            <a:pPr>
              <a:defRPr sz="1150" b="1">
                <a:solidFill>
                  <a:srgbClr val="F8FAFC"/>
                </a:solidFill>
              </a:defRPr>
            </a:pPr>
            <a:r>
              <a:t>• Manager Decision &amp; Routing Shift</a:t>
            </a:r>
          </a:p>
          <a:p>
            <a:pPr>
              <a:spcAft>
                <a:spcPts val="700"/>
              </a:spcAft>
              <a:defRPr sz="1000">
                <a:solidFill>
                  <a:srgbClr val="94A3B8"/>
                </a:solidFill>
              </a:defRPr>
            </a:pPr>
            <a:r>
              <a:t>Shifted immediately from routine check-in to 'Customer Success / Bug Escalation' with urgent engineering follow-up assigned to Arun.</a:t>
            </a:r>
          </a:p>
          <a:p>
            <a:pPr>
              <a:defRPr sz="1150" b="1">
                <a:solidFill>
                  <a:srgbClr val="F8FAFC"/>
                </a:solidFill>
              </a:defRPr>
            </a:pPr>
            <a:r>
              <a:t>• Preserved Manual Override Contract</a:t>
            </a:r>
          </a:p>
          <a:p>
            <a:pPr>
              <a:spcAft>
                <a:spcPts val="700"/>
              </a:spcAft>
              <a:defRPr sz="1000">
                <a:solidFill>
                  <a:srgbClr val="94A3B8"/>
                </a:solidFill>
              </a:defRPr>
            </a:pPr>
            <a:r>
              <a:t>Under DATA_CONTRACT.md, a manager's manual override applied in Step 3 survives Step 4 late updates, Step 5 batch replays, and full browser restarts via persistent localStorage.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6B6D4"/>
                </a:solidFill>
              </a:defRPr>
            </a:pPr>
            <a:r>
              <a:t>VOLOPAY EVALUATION  •  SLIDE 4 • REPLAY TESTS &amp; DATA CONTRACT AUDIT</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F8FAFC"/>
                </a:solidFill>
              </a:defRPr>
            </a:pPr>
            <a:r>
              <a:t>4. Mathematical Audit Verification of Key Numbers &amp; Idempotence</a:t>
            </a:r>
          </a:p>
        </p:txBody>
      </p:sp>
      <p:sp>
        <p:nvSpPr>
          <p:cNvPr id="4" name="TextBox 3"/>
          <p:cNvSpPr txBox="1"/>
          <p:nvPr/>
        </p:nvSpPr>
        <p:spPr>
          <a:xfrm>
            <a:off x="731520" y="6309360"/>
            <a:ext cx="10698480" cy="365760"/>
          </a:xfrm>
          <a:prstGeom prst="rect">
            <a:avLst/>
          </a:prstGeom>
          <a:noFill/>
        </p:spPr>
        <p:txBody>
          <a:bodyPr wrap="none">
            <a:spAutoFit/>
          </a:bodyPr>
          <a:lstStyle/>
          <a:p>
            <a:pPr>
              <a:defRPr sz="950">
                <a:solidFill>
                  <a:srgbClr val="94A3B8"/>
                </a:solidFill>
              </a:defRPr>
            </a:pPr>
            <a:r>
              <a:t>SpendNest Revenue Intelligence Inbox  •  Candidate: Dinesh Madhavan M  •  Live: https://volopay-assignment-inqe.onrender.com  •  Slide 4 of 5</a:t>
            </a:r>
          </a:p>
        </p:txBody>
      </p:sp>
      <p:sp>
        <p:nvSpPr>
          <p:cNvPr id="5" name="Rounded Rectangle 4"/>
          <p:cNvSpPr/>
          <p:nvPr/>
        </p:nvSpPr>
        <p:spPr>
          <a:xfrm>
            <a:off x="731520" y="1371600"/>
            <a:ext cx="2542032" cy="2103120"/>
          </a:xfrm>
          <a:prstGeom prst="roundRect">
            <a:avLst/>
          </a:prstGeom>
          <a:solidFill>
            <a:srgbClr val="131A2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508760"/>
            <a:ext cx="2322576" cy="1828800"/>
          </a:xfrm>
          <a:prstGeom prst="rect">
            <a:avLst/>
          </a:prstGeom>
          <a:noFill/>
        </p:spPr>
        <p:txBody>
          <a:bodyPr wrap="square">
            <a:spAutoFit/>
          </a:bodyPr>
          <a:lstStyle/>
          <a:p>
            <a:pPr>
              <a:defRPr sz="1600" b="1">
                <a:solidFill>
                  <a:srgbClr val="06B6D4"/>
                </a:solidFill>
              </a:defRPr>
            </a:pPr>
            <a:r>
              <a:t>44 Total Records</a:t>
            </a:r>
          </a:p>
          <a:p>
            <a:pPr>
              <a:spcAft>
                <a:spcPts val="400"/>
              </a:spcAft>
              <a:defRPr sz="1050" b="1">
                <a:solidFill>
                  <a:srgbClr val="F8FAFC"/>
                </a:solidFill>
              </a:defRPr>
            </a:pPr>
            <a:r>
              <a:t>Unique (source_type, source_id)</a:t>
            </a:r>
          </a:p>
          <a:p>
            <a:pPr>
              <a:defRPr sz="950">
                <a:solidFill>
                  <a:srgbClr val="94A3B8"/>
                </a:solidFill>
              </a:defRPr>
            </a:pPr>
            <a:r>
              <a:t>30 Calls &amp; 14 Meetings occurring on local date 2026-08-21. Keyed strictly by composite tuple identity.</a:t>
            </a:r>
          </a:p>
        </p:txBody>
      </p:sp>
      <p:sp>
        <p:nvSpPr>
          <p:cNvPr id="7" name="Rounded Rectangle 6"/>
          <p:cNvSpPr/>
          <p:nvPr/>
        </p:nvSpPr>
        <p:spPr>
          <a:xfrm>
            <a:off x="3456432" y="1371600"/>
            <a:ext cx="2542032" cy="2103120"/>
          </a:xfrm>
          <a:prstGeom prst="roundRect">
            <a:avLst/>
          </a:prstGeom>
          <a:solidFill>
            <a:srgbClr val="131A2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1508760"/>
            <a:ext cx="2322576" cy="1828800"/>
          </a:xfrm>
          <a:prstGeom prst="rect">
            <a:avLst/>
          </a:prstGeom>
          <a:noFill/>
        </p:spPr>
        <p:txBody>
          <a:bodyPr wrap="square">
            <a:spAutoFit/>
          </a:bodyPr>
          <a:lstStyle/>
          <a:p>
            <a:pPr>
              <a:defRPr sz="1600" b="1">
                <a:solidFill>
                  <a:srgbClr val="10B981"/>
                </a:solidFill>
              </a:defRPr>
            </a:pPr>
            <a:r>
              <a:t>17 ➔ 18 Transcripts</a:t>
            </a:r>
          </a:p>
          <a:p>
            <a:pPr>
              <a:spcAft>
                <a:spcPts val="400"/>
              </a:spcAft>
              <a:defRPr sz="1050" b="1">
                <a:solidFill>
                  <a:srgbClr val="F8FAFC"/>
                </a:solidFill>
              </a:defRPr>
            </a:pPr>
            <a:r>
              <a:t>Coverage Jump: 38.6% ➔ 40.9%</a:t>
            </a:r>
          </a:p>
          <a:p>
            <a:pPr>
              <a:defRPr sz="950">
                <a:solidFill>
                  <a:srgbClr val="94A3B8"/>
                </a:solidFill>
              </a:defRPr>
            </a:pPr>
            <a:r>
              <a:t>Initial batch contains 17 usable transcripts. M07 update arrives in Rev 2, lifting coverage to 18 of 44 without duplicating records.</a:t>
            </a:r>
          </a:p>
        </p:txBody>
      </p:sp>
      <p:sp>
        <p:nvSpPr>
          <p:cNvPr id="9" name="Rounded Rectangle 8"/>
          <p:cNvSpPr/>
          <p:nvPr/>
        </p:nvSpPr>
        <p:spPr>
          <a:xfrm>
            <a:off x="6181344" y="1371600"/>
            <a:ext cx="2542032" cy="2103120"/>
          </a:xfrm>
          <a:prstGeom prst="roundRect">
            <a:avLst/>
          </a:prstGeom>
          <a:solidFill>
            <a:srgbClr val="131A2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91072" y="1508760"/>
            <a:ext cx="2322576" cy="1828800"/>
          </a:xfrm>
          <a:prstGeom prst="rect">
            <a:avLst/>
          </a:prstGeom>
          <a:noFill/>
        </p:spPr>
        <p:txBody>
          <a:bodyPr wrap="square">
            <a:spAutoFit/>
          </a:bodyPr>
          <a:lstStyle/>
          <a:p>
            <a:pPr>
              <a:defRPr sz="1600" b="1">
                <a:solidFill>
                  <a:srgbClr val="F59E0B"/>
                </a:solidFill>
              </a:defRPr>
            </a:pPr>
            <a:r>
              <a:t>9 / 30 Calls Connected</a:t>
            </a:r>
          </a:p>
          <a:p>
            <a:pPr>
              <a:spcAft>
                <a:spcPts val="400"/>
              </a:spcAft>
              <a:defRPr sz="1050" b="1">
                <a:solidFill>
                  <a:srgbClr val="F8FAFC"/>
                </a:solidFill>
              </a:defRPr>
            </a:pPr>
            <a:r>
              <a:t>Reported Connection Rate: 30%</a:t>
            </a:r>
          </a:p>
          <a:p>
            <a:pPr>
              <a:defRPr sz="950">
                <a:solidFill>
                  <a:srgbClr val="94A3B8"/>
                </a:solidFill>
              </a:defRPr>
            </a:pPr>
            <a:r>
              <a:t>Telephony reported 9 connected calls. However, audit reveals only 8 had substantive customer dialogue (C02/C04 hit voicemail).</a:t>
            </a:r>
          </a:p>
        </p:txBody>
      </p:sp>
      <p:sp>
        <p:nvSpPr>
          <p:cNvPr id="11" name="Rounded Rectangle 10"/>
          <p:cNvSpPr/>
          <p:nvPr/>
        </p:nvSpPr>
        <p:spPr>
          <a:xfrm>
            <a:off x="8906256" y="1371600"/>
            <a:ext cx="2542032" cy="2103120"/>
          </a:xfrm>
          <a:prstGeom prst="roundRect">
            <a:avLst/>
          </a:prstGeom>
          <a:solidFill>
            <a:srgbClr val="131A2B"/>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15984" y="1508760"/>
            <a:ext cx="2322576" cy="1828800"/>
          </a:xfrm>
          <a:prstGeom prst="rect">
            <a:avLst/>
          </a:prstGeom>
          <a:noFill/>
        </p:spPr>
        <p:txBody>
          <a:bodyPr wrap="square">
            <a:spAutoFit/>
          </a:bodyPr>
          <a:lstStyle/>
          <a:p>
            <a:pPr>
              <a:defRPr sz="1600" b="1">
                <a:solidFill>
                  <a:srgbClr val="6366F1"/>
                </a:solidFill>
              </a:defRPr>
            </a:pPr>
            <a:r>
              <a:t>0 Duplicates / 44 Rejected</a:t>
            </a:r>
          </a:p>
          <a:p>
            <a:pPr>
              <a:spcAft>
                <a:spcPts val="400"/>
              </a:spcAft>
              <a:defRPr sz="1050" b="1">
                <a:solidFill>
                  <a:srgbClr val="F8FAFC"/>
                </a:solidFill>
              </a:defRPr>
            </a:pPr>
            <a:r>
              <a:t>Strict Replay Idempotence</a:t>
            </a:r>
          </a:p>
          <a:p>
            <a:pPr>
              <a:defRPr sz="950">
                <a:solidFill>
                  <a:srgbClr val="94A3B8"/>
                </a:solidFill>
              </a:defRPr>
            </a:pPr>
            <a:r>
              <a:t>Re-ingesting initial batch in shuffled order safely ignores older/equal revisions. Zero duplicate records and zero count inflation.</a:t>
            </a:r>
          </a:p>
        </p:txBody>
      </p:sp>
      <p:sp>
        <p:nvSpPr>
          <p:cNvPr id="13" name="Rounded Rectangle 12"/>
          <p:cNvSpPr/>
          <p:nvPr/>
        </p:nvSpPr>
        <p:spPr>
          <a:xfrm>
            <a:off x="731520" y="3703320"/>
            <a:ext cx="10728655" cy="2423160"/>
          </a:xfrm>
          <a:prstGeom prst="roundRect">
            <a:avLst/>
          </a:prstGeom>
          <a:solidFill>
            <a:srgbClr val="131A2B"/>
          </a:solidFill>
          <a:ln w="15240">
            <a:solidFill>
              <a:srgbClr val="25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794760"/>
            <a:ext cx="10362895" cy="2240280"/>
          </a:xfrm>
          <a:prstGeom prst="rect">
            <a:avLst/>
          </a:prstGeom>
          <a:noFill/>
        </p:spPr>
        <p:txBody>
          <a:bodyPr wrap="square">
            <a:spAutoFit/>
          </a:bodyPr>
          <a:lstStyle/>
          <a:p>
            <a:pPr>
              <a:spcAft>
                <a:spcPts val="600"/>
              </a:spcAft>
              <a:defRPr sz="1200" b="1">
                <a:solidFill>
                  <a:srgbClr val="6366F1"/>
                </a:solidFill>
              </a:defRPr>
            </a:pPr>
            <a:r>
              <a:t>DATA_CONTRACT.md 5-STEP REPLAY AUDIT TRAIL</a:t>
            </a:r>
          </a:p>
          <a:p>
            <a:pPr>
              <a:spcAft>
                <a:spcPts val="300"/>
              </a:spcAft>
              <a:defRPr sz="1050" b="1">
                <a:solidFill>
                  <a:srgbClr val="F8FAFC"/>
                </a:solidFill>
              </a:defRPr>
            </a:pPr>
            <a:r>
              <a:t>• Step 1 (Initial Import): Ingests 01_initial.json. Establishes baseline: 44 unique records, 17 usable transcripts (38.6% coverage).</a:t>
            </a:r>
          </a:p>
          <a:p>
            <a:pPr>
              <a:spcAft>
                <a:spcPts val="300"/>
              </a:spcAft>
              <a:defRPr sz="1050" b="1">
                <a:solidFill>
                  <a:srgbClr val="F8FAFC"/>
                </a:solidFill>
              </a:defRPr>
            </a:pPr>
            <a:r>
              <a:t>• Step 2 (Repeat Idempotence): Re-imports 01_initial.json in shuffled order. Strict idempotency confirmed: 0 new records, 44 duplicates safely rejected.</a:t>
            </a:r>
          </a:p>
          <a:p>
            <a:pPr>
              <a:spcAft>
                <a:spcPts val="300"/>
              </a:spcAft>
              <a:defRPr sz="1050" b="1">
                <a:solidFill>
                  <a:srgbClr val="F8FAFC"/>
                </a:solidFill>
              </a:defRPr>
            </a:pPr>
            <a:r>
              <a:t>• Step 3 (Manual Route Correction): Simulates manager judgment: route for M07 changed to 'Customer Success / Bug Escalation' with yellow badge.</a:t>
            </a:r>
          </a:p>
          <a:p>
            <a:pPr>
              <a:spcAft>
                <a:spcPts val="300"/>
              </a:spcAft>
              <a:defRPr sz="1050" b="1">
                <a:solidFill>
                  <a:srgbClr val="F8FAFC"/>
                </a:solidFill>
              </a:defRPr>
            </a:pPr>
            <a:r>
              <a:t>• Step 4 (Ingest Late Update): Ingests 02_update.json. M07 updated to Rev 2 with 27 turns. Coverage jumps 17 ➔ 18. Total records remains exactly 44.</a:t>
            </a:r>
          </a:p>
          <a:p>
            <a:pPr>
              <a:spcAft>
                <a:spcPts val="300"/>
              </a:spcAft>
              <a:defRPr sz="1050" b="1">
                <a:solidFill>
                  <a:srgbClr val="F8FAFC"/>
                </a:solidFill>
              </a:defRPr>
            </a:pPr>
            <a:r>
              <a:t>• Step 5 (Preserve Judgment): Re-imports Rev 1. Because M07 is already at Rev 2, Rev 1 is safely ignored. Manager's manual override survives intact.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6B6D4"/>
                </a:solidFill>
              </a:defRPr>
            </a:pPr>
            <a:r>
              <a:t>VOLOPAY EVALUATION  •  SLIDE 5 • ETHICS, AI USAGE &amp; PRODUCT EVOLUTION</a:t>
            </a:r>
          </a:p>
        </p:txBody>
      </p:sp>
      <p:sp>
        <p:nvSpPr>
          <p:cNvPr id="3" name="TextBox 2"/>
          <p:cNvSpPr txBox="1"/>
          <p:nvPr/>
        </p:nvSpPr>
        <p:spPr>
          <a:xfrm>
            <a:off x="731520" y="685800"/>
            <a:ext cx="10698480" cy="594360"/>
          </a:xfrm>
          <a:prstGeom prst="rect">
            <a:avLst/>
          </a:prstGeom>
          <a:noFill/>
        </p:spPr>
        <p:txBody>
          <a:bodyPr wrap="square">
            <a:spAutoFit/>
          </a:bodyPr>
          <a:lstStyle/>
          <a:p>
            <a:pPr>
              <a:defRPr sz="2200" b="1">
                <a:solidFill>
                  <a:srgbClr val="F8FAFC"/>
                </a:solidFill>
              </a:defRPr>
            </a:pPr>
            <a:r>
              <a:t>5. Trade-offs, Rejected Decision &amp; System Limitations</a:t>
            </a:r>
          </a:p>
        </p:txBody>
      </p:sp>
      <p:sp>
        <p:nvSpPr>
          <p:cNvPr id="4" name="TextBox 3"/>
          <p:cNvSpPr txBox="1"/>
          <p:nvPr/>
        </p:nvSpPr>
        <p:spPr>
          <a:xfrm>
            <a:off x="731520" y="6309360"/>
            <a:ext cx="10698480" cy="365760"/>
          </a:xfrm>
          <a:prstGeom prst="rect">
            <a:avLst/>
          </a:prstGeom>
          <a:noFill/>
        </p:spPr>
        <p:txBody>
          <a:bodyPr wrap="none">
            <a:spAutoFit/>
          </a:bodyPr>
          <a:lstStyle/>
          <a:p>
            <a:pPr>
              <a:defRPr sz="950">
                <a:solidFill>
                  <a:srgbClr val="94A3B8"/>
                </a:solidFill>
              </a:defRPr>
            </a:pPr>
            <a:r>
              <a:t>SpendNest Revenue Intelligence Inbox  •  Candidate: Dinesh Madhavan M  •  Live: https://volopay-assignment-inqe.onrender.com  •  Slide 5 of 5</a:t>
            </a:r>
          </a:p>
        </p:txBody>
      </p:sp>
      <p:sp>
        <p:nvSpPr>
          <p:cNvPr id="5" name="Rounded Rectangle 4"/>
          <p:cNvSpPr/>
          <p:nvPr/>
        </p:nvSpPr>
        <p:spPr>
          <a:xfrm>
            <a:off x="731520" y="1371600"/>
            <a:ext cx="5248656" cy="4754880"/>
          </a:xfrm>
          <a:prstGeom prst="roundRect">
            <a:avLst/>
          </a:prstGeom>
          <a:solidFill>
            <a:srgbClr val="131A2B"/>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82896" cy="4389120"/>
          </a:xfrm>
          <a:prstGeom prst="rect">
            <a:avLst/>
          </a:prstGeom>
          <a:noFill/>
        </p:spPr>
        <p:txBody>
          <a:bodyPr wrap="square">
            <a:spAutoFit/>
          </a:bodyPr>
          <a:lstStyle/>
          <a:p>
            <a:pPr>
              <a:spcAft>
                <a:spcPts val="1000"/>
              </a:spcAft>
              <a:defRPr sz="1200" b="1">
                <a:solidFill>
                  <a:srgbClr val="EF4444"/>
                </a:solidFill>
              </a:defRPr>
            </a:pPr>
            <a:r>
              <a:t>THE DELIBERATELY REJECTED DECISION</a:t>
            </a:r>
          </a:p>
          <a:p>
            <a:pPr>
              <a:defRPr sz="1100" b="1">
                <a:solidFill>
                  <a:srgbClr val="F8FAFC"/>
                </a:solidFill>
              </a:defRPr>
            </a:pPr>
            <a:r>
              <a:t>Alternative Considered:</a:t>
            </a:r>
          </a:p>
          <a:p>
            <a:pPr>
              <a:spcAft>
                <a:spcPts val="800"/>
              </a:spcAft>
              <a:defRPr sz="1050">
                <a:solidFill>
                  <a:srgbClr val="94A3B8"/>
                </a:solidFill>
              </a:defRPr>
            </a:pPr>
            <a:r>
              <a:t>Using an LLM to guess deal ARR values from company names and employee estimates (e.g. projecting Asterloom as a $45,000 ARR deal).</a:t>
            </a:r>
          </a:p>
          <a:p>
            <a:pPr>
              <a:defRPr sz="1100" b="1">
                <a:solidFill>
                  <a:srgbClr val="EF4444"/>
                </a:solidFill>
              </a:defRPr>
            </a:pPr>
            <a:r>
              <a:t>Why It Was Rejected:</a:t>
            </a:r>
          </a:p>
          <a:p>
            <a:pPr>
              <a:spcAft>
                <a:spcPts val="800"/>
              </a:spcAft>
              <a:defRPr sz="1050">
                <a:solidFill>
                  <a:srgbClr val="94A3B8"/>
                </a:solidFill>
              </a:defRPr>
            </a:pPr>
            <a:r>
              <a:t>The brief explicitly mandates: 'Do not invent pipeline value, deal outcomes or account links that the data does not establish.' Hallucinating speculative financial numbers damages executive trust and misleads sales leadership.</a:t>
            </a:r>
          </a:p>
          <a:p>
            <a:pPr>
              <a:defRPr sz="1100" b="1">
                <a:solidFill>
                  <a:srgbClr val="10B981"/>
                </a:solidFill>
              </a:defRPr>
            </a:pPr>
            <a:r>
              <a:t>Accepted Trade-off &amp; Product Result:</a:t>
            </a:r>
          </a:p>
          <a:p>
            <a:pPr>
              <a:defRPr sz="1050">
                <a:solidFill>
                  <a:srgbClr val="94A3B8"/>
                </a:solidFill>
              </a:defRPr>
            </a:pPr>
            <a:r>
              <a:t>We display qualitative commercial intent alongside verbatim financial statements (e.g., Asterloom's INR 26-39 lakh monthly vendor spend) without guessing synthetic revenue.</a:t>
            </a:r>
          </a:p>
        </p:txBody>
      </p:sp>
      <p:sp>
        <p:nvSpPr>
          <p:cNvPr id="7" name="Rounded Rectangle 6"/>
          <p:cNvSpPr/>
          <p:nvPr/>
        </p:nvSpPr>
        <p:spPr>
          <a:xfrm>
            <a:off x="6199632" y="1371600"/>
            <a:ext cx="5248656" cy="4754880"/>
          </a:xfrm>
          <a:prstGeom prst="roundRect">
            <a:avLst/>
          </a:prstGeom>
          <a:solidFill>
            <a:srgbClr val="131A2B"/>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82896" cy="4389120"/>
          </a:xfrm>
          <a:prstGeom prst="rect">
            <a:avLst/>
          </a:prstGeom>
          <a:noFill/>
        </p:spPr>
        <p:txBody>
          <a:bodyPr wrap="square">
            <a:spAutoFit/>
          </a:bodyPr>
          <a:lstStyle/>
          <a:p>
            <a:pPr>
              <a:spcAft>
                <a:spcPts val="1000"/>
              </a:spcAft>
              <a:defRPr sz="1200" b="1">
                <a:solidFill>
                  <a:srgbClr val="6366F1"/>
                </a:solidFill>
              </a:defRPr>
            </a:pPr>
            <a:r>
              <a:t>AI DISCLOSURE, TIME SPENT &amp; ROADMAP</a:t>
            </a:r>
          </a:p>
          <a:p>
            <a:pPr>
              <a:defRPr sz="1100" b="1">
                <a:solidFill>
                  <a:srgbClr val="F8FAFC"/>
                </a:solidFill>
              </a:defRPr>
            </a:pPr>
            <a:r>
              <a:t>• Pre-Generated vs. Dynamic Runtime Operations</a:t>
            </a:r>
          </a:p>
          <a:p>
            <a:pPr>
              <a:spcAft>
                <a:spcPts val="600"/>
              </a:spcAft>
              <a:defRPr sz="980">
                <a:solidFill>
                  <a:srgbClr val="94A3B8"/>
                </a:solidFill>
              </a:defRPr>
            </a:pPr>
            <a:r>
              <a:t>Conversation analyses, route rationales, and evidence quotes were prepared beforehand to guarantee factual citations and eliminate runtime hallucination. Ingestion deduplication, revision handling, override persistence, and ZIP packaging run dynamically in the client browser.</a:t>
            </a:r>
          </a:p>
          <a:p>
            <a:pPr>
              <a:defRPr sz="1100" b="1">
                <a:solidFill>
                  <a:srgbClr val="F8FAFC"/>
                </a:solidFill>
              </a:defRPr>
            </a:pPr>
            <a:r>
              <a:t>• Approximate Hours Spent (~7 Hours Total)</a:t>
            </a:r>
          </a:p>
          <a:p>
            <a:pPr>
              <a:spcAft>
                <a:spcPts val="600"/>
              </a:spcAft>
              <a:defRPr sz="980">
                <a:solidFill>
                  <a:srgbClr val="94A3B8"/>
                </a:solidFill>
              </a:defRPr>
            </a:pPr>
            <a:r>
              <a:t>• Data Contract &amp; Record Modeling: 2.5 hours</a:t>
            </a:r>
            <a:br/>
            <a:r>
              <a:t>• Web Dashboard &amp; Design System: 2.5 hours</a:t>
            </a:r>
            <a:br/>
            <a:r>
              <a:t>• Manifest &amp; ZIP Export Engine: 1.0 hour</a:t>
            </a:r>
            <a:br/>
            <a:r>
              <a:t>• Verification, Documentation &amp; Slides: 1.0 hour</a:t>
            </a:r>
          </a:p>
          <a:p>
            <a:pPr>
              <a:defRPr sz="1100" b="1">
                <a:solidFill>
                  <a:srgbClr val="F8FAFC"/>
                </a:solidFill>
              </a:defRPr>
            </a:pPr>
            <a:r>
              <a:t>• Known System Limitations</a:t>
            </a:r>
          </a:p>
          <a:p>
            <a:pPr>
              <a:spcAft>
                <a:spcPts val="600"/>
              </a:spcAft>
              <a:defRPr sz="980">
                <a:solidFill>
                  <a:srgbClr val="94A3B8"/>
                </a:solidFill>
              </a:defRPr>
            </a:pPr>
            <a:r>
              <a:t>Cross-call speaker identity is not unified upstream. An organizer email is not automatically confirmed as an attendee or quota-carrying salesperson.</a:t>
            </a:r>
          </a:p>
          <a:p>
            <a:pPr>
              <a:defRPr sz="1100" b="1">
                <a:solidFill>
                  <a:srgbClr val="F8FAFC"/>
                </a:solidFill>
              </a:defRPr>
            </a:pPr>
            <a:r>
              <a:t>• Future Improvements (Next Iteration)</a:t>
            </a:r>
          </a:p>
          <a:p>
            <a:pPr>
              <a:spcAft>
                <a:spcPts val="600"/>
              </a:spcAft>
              <a:defRPr sz="980">
                <a:solidFill>
                  <a:srgbClr val="94A3B8"/>
                </a:solidFill>
              </a:defRPr>
            </a:pPr>
            <a:r>
              <a:t>1. Real-time telephony webhook ingestion for live Gong/Zoom calls.</a:t>
            </a:r>
            <a:br/>
            <a:r>
              <a:t>2. Bi-directional CRM sync for automated override persistence.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